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1"/>
  </p:notesMasterIdLst>
  <p:sldIdLst>
    <p:sldId id="256" r:id="rId2"/>
    <p:sldId id="258" r:id="rId3"/>
    <p:sldId id="260" r:id="rId4"/>
    <p:sldId id="261" r:id="rId5"/>
    <p:sldId id="263" r:id="rId6"/>
    <p:sldId id="262" r:id="rId7"/>
    <p:sldId id="1303" r:id="rId8"/>
    <p:sldId id="1304" r:id="rId9"/>
    <p:sldId id="1300" r:id="rId10"/>
    <p:sldId id="1305" r:id="rId11"/>
    <p:sldId id="1307" r:id="rId12"/>
    <p:sldId id="1308" r:id="rId13"/>
    <p:sldId id="1314" r:id="rId14"/>
    <p:sldId id="1309" r:id="rId15"/>
    <p:sldId id="1310" r:id="rId16"/>
    <p:sldId id="1311" r:id="rId17"/>
    <p:sldId id="1312" r:id="rId18"/>
    <p:sldId id="264" r:id="rId19"/>
    <p:sldId id="1313" r:id="rId20"/>
  </p:sldIdLst>
  <p:sldSz cx="9144000" cy="5143500" type="screen16x9"/>
  <p:notesSz cx="6858000" cy="9144000"/>
  <p:embeddedFontLst>
    <p:embeddedFont>
      <p:font typeface="Anaheim" panose="020F0502020204030204" pitchFamily="34" charset="0"/>
      <p:regular r:id="rId22"/>
      <p:bold r:id="rId23"/>
      <p:italic r:id="rId24"/>
      <p:boldItalic r:id="rId25"/>
    </p:embeddedFont>
    <p:embeddedFont>
      <p:font typeface="DM Sans" pitchFamily="2" charset="77"/>
      <p:regular r:id="rId26"/>
      <p:bold r:id="rId27"/>
      <p:italic r:id="rId28"/>
      <p:boldItalic r:id="rId29"/>
    </p:embeddedFont>
    <p:embeddedFont>
      <p:font typeface="Nunito Light" pitchFamily="2" charset="77"/>
      <p:regular r:id="rId30"/>
      <p:italic r:id="rId31"/>
    </p:embeddedFont>
    <p:embeddedFont>
      <p:font typeface="Outfit" pitchFamily="2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0F6DC0-1C3A-443C-B878-45D198B06A33}">
  <a:tblStyle styleId="{0B0F6DC0-1C3A-443C-B878-45D198B06A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962"/>
    <p:restoredTop sz="80317"/>
  </p:normalViewPr>
  <p:slideViewPr>
    <p:cSldViewPr snapToGrid="0">
      <p:cViewPr varScale="1">
        <p:scale>
          <a:sx n="115" d="100"/>
          <a:sy n="115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92C9DCE8-049C-3700-AFB7-A1AB6469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>
            <a:extLst>
              <a:ext uri="{FF2B5EF4-FFF2-40B4-BE49-F238E27FC236}">
                <a16:creationId xmlns:a16="http://schemas.microsoft.com/office/drawing/2014/main" id="{AB89DC89-44F3-1E4A-231C-C7089FF97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>
            <a:extLst>
              <a:ext uri="{FF2B5EF4-FFF2-40B4-BE49-F238E27FC236}">
                <a16:creationId xmlns:a16="http://schemas.microsoft.com/office/drawing/2014/main" id="{BAB32A8A-00AE-E16C-7DDF-C4E4CE898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0965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>
          <a:extLst>
            <a:ext uri="{FF2B5EF4-FFF2-40B4-BE49-F238E27FC236}">
              <a16:creationId xmlns:a16="http://schemas.microsoft.com/office/drawing/2014/main" id="{0BA50FC8-E11B-F843-9665-A7C035BE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54ff9c4cb4_3_5:notes">
            <a:extLst>
              <a:ext uri="{FF2B5EF4-FFF2-40B4-BE49-F238E27FC236}">
                <a16:creationId xmlns:a16="http://schemas.microsoft.com/office/drawing/2014/main" id="{05E5FC8F-3B79-0900-7DD0-3A96BB4E9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54ff9c4cb4_3_5:notes">
            <a:extLst>
              <a:ext uri="{FF2B5EF4-FFF2-40B4-BE49-F238E27FC236}">
                <a16:creationId xmlns:a16="http://schemas.microsoft.com/office/drawing/2014/main" id="{B586FBF6-D4E3-6AB6-A74A-4B5B4FF625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1366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>
          <a:extLst>
            <a:ext uri="{FF2B5EF4-FFF2-40B4-BE49-F238E27FC236}">
              <a16:creationId xmlns:a16="http://schemas.microsoft.com/office/drawing/2014/main" id="{2D1D5268-4A90-5AB4-36E0-C04D5F9F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1e71a4a866a_0_0:notes">
            <a:extLst>
              <a:ext uri="{FF2B5EF4-FFF2-40B4-BE49-F238E27FC236}">
                <a16:creationId xmlns:a16="http://schemas.microsoft.com/office/drawing/2014/main" id="{81EF07CB-58C4-3F3D-B7C8-D0E2DAC654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1e71a4a866a_0_0:notes">
            <a:extLst>
              <a:ext uri="{FF2B5EF4-FFF2-40B4-BE49-F238E27FC236}">
                <a16:creationId xmlns:a16="http://schemas.microsoft.com/office/drawing/2014/main" id="{62BDC0B5-57D0-FE92-B579-63EF30AB9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7073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BB38E9F7-2E98-6743-F956-C3B24C5B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>
            <a:extLst>
              <a:ext uri="{FF2B5EF4-FFF2-40B4-BE49-F238E27FC236}">
                <a16:creationId xmlns:a16="http://schemas.microsoft.com/office/drawing/2014/main" id="{AC93F189-9482-7807-41D3-184A15D64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>
            <a:extLst>
              <a:ext uri="{FF2B5EF4-FFF2-40B4-BE49-F238E27FC236}">
                <a16:creationId xmlns:a16="http://schemas.microsoft.com/office/drawing/2014/main" id="{6544AD49-1E59-4ED4-ADE4-95B1A02014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5734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>
          <a:extLst>
            <a:ext uri="{FF2B5EF4-FFF2-40B4-BE49-F238E27FC236}">
              <a16:creationId xmlns:a16="http://schemas.microsoft.com/office/drawing/2014/main" id="{9B8A336F-A95C-E3E3-EBBA-4478CD990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54dda1946d_4_2685:notes">
            <a:extLst>
              <a:ext uri="{FF2B5EF4-FFF2-40B4-BE49-F238E27FC236}">
                <a16:creationId xmlns:a16="http://schemas.microsoft.com/office/drawing/2014/main" id="{DBD4FBD2-CA00-0EF2-3FC0-2591BCB6B7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54dda1946d_4_2685:notes">
            <a:extLst>
              <a:ext uri="{FF2B5EF4-FFF2-40B4-BE49-F238E27FC236}">
                <a16:creationId xmlns:a16="http://schemas.microsoft.com/office/drawing/2014/main" id="{BFD83B8C-2FF4-81B7-B105-3B13A0914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9453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>
          <a:extLst>
            <a:ext uri="{FF2B5EF4-FFF2-40B4-BE49-F238E27FC236}">
              <a16:creationId xmlns:a16="http://schemas.microsoft.com/office/drawing/2014/main" id="{F56B15B9-DD55-8EF1-9C48-41F03ECD3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54dda1946d_4_2685:notes">
            <a:extLst>
              <a:ext uri="{FF2B5EF4-FFF2-40B4-BE49-F238E27FC236}">
                <a16:creationId xmlns:a16="http://schemas.microsoft.com/office/drawing/2014/main" id="{D780A9DF-8857-3725-470E-285B8D590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54dda1946d_4_2685:notes">
            <a:extLst>
              <a:ext uri="{FF2B5EF4-FFF2-40B4-BE49-F238E27FC236}">
                <a16:creationId xmlns:a16="http://schemas.microsoft.com/office/drawing/2014/main" id="{04E8DABF-A8A7-705E-B0E4-371B35575F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7340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>
          <a:extLst>
            <a:ext uri="{FF2B5EF4-FFF2-40B4-BE49-F238E27FC236}">
              <a16:creationId xmlns:a16="http://schemas.microsoft.com/office/drawing/2014/main" id="{A915B0BA-73A7-CD38-66A7-171C38EB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54dda1946d_4_2685:notes">
            <a:extLst>
              <a:ext uri="{FF2B5EF4-FFF2-40B4-BE49-F238E27FC236}">
                <a16:creationId xmlns:a16="http://schemas.microsoft.com/office/drawing/2014/main" id="{67A0A66C-7086-310C-00A8-DFC1A909E7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54dda1946d_4_2685:notes">
            <a:extLst>
              <a:ext uri="{FF2B5EF4-FFF2-40B4-BE49-F238E27FC236}">
                <a16:creationId xmlns:a16="http://schemas.microsoft.com/office/drawing/2014/main" id="{563D12C4-A914-A155-F3C2-BC92BA633D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371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181688FC-83ED-2B79-F500-408558F1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>
            <a:extLst>
              <a:ext uri="{FF2B5EF4-FFF2-40B4-BE49-F238E27FC236}">
                <a16:creationId xmlns:a16="http://schemas.microsoft.com/office/drawing/2014/main" id="{655405BB-8D83-94FD-28B0-ADB1D307C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>
            <a:extLst>
              <a:ext uri="{FF2B5EF4-FFF2-40B4-BE49-F238E27FC236}">
                <a16:creationId xmlns:a16="http://schemas.microsoft.com/office/drawing/2014/main" id="{3C722938-804B-9066-73D1-1072895E84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7274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>
          <a:extLst>
            <a:ext uri="{FF2B5EF4-FFF2-40B4-BE49-F238E27FC236}">
              <a16:creationId xmlns:a16="http://schemas.microsoft.com/office/drawing/2014/main" id="{BCA66009-613A-9FE0-6C9B-B37F10B41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e71a4a866a_0_20:notes">
            <a:extLst>
              <a:ext uri="{FF2B5EF4-FFF2-40B4-BE49-F238E27FC236}">
                <a16:creationId xmlns:a16="http://schemas.microsoft.com/office/drawing/2014/main" id="{CB84BFA3-7ED4-6F58-187B-7764AD862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e71a4a866a_0_20:notes">
            <a:extLst>
              <a:ext uri="{FF2B5EF4-FFF2-40B4-BE49-F238E27FC236}">
                <a16:creationId xmlns:a16="http://schemas.microsoft.com/office/drawing/2014/main" id="{E4A9EF04-2348-177D-285F-84407696F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7496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>
          <a:extLst>
            <a:ext uri="{FF2B5EF4-FFF2-40B4-BE49-F238E27FC236}">
              <a16:creationId xmlns:a16="http://schemas.microsoft.com/office/drawing/2014/main" id="{722E67C2-7BE4-41ED-0D68-C7BE8BEB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e71a4a866a_0_20:notes">
            <a:extLst>
              <a:ext uri="{FF2B5EF4-FFF2-40B4-BE49-F238E27FC236}">
                <a16:creationId xmlns:a16="http://schemas.microsoft.com/office/drawing/2014/main" id="{CF189DC1-1656-E1D0-B663-F4BB0B7A60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e71a4a866a_0_20:notes">
            <a:extLst>
              <a:ext uri="{FF2B5EF4-FFF2-40B4-BE49-F238E27FC236}">
                <a16:creationId xmlns:a16="http://schemas.microsoft.com/office/drawing/2014/main" id="{90AD0BDF-1C0F-E52C-1B05-D64DE89DE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0456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52C907DA-285C-CB2B-8A61-B61043312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>
            <a:extLst>
              <a:ext uri="{FF2B5EF4-FFF2-40B4-BE49-F238E27FC236}">
                <a16:creationId xmlns:a16="http://schemas.microsoft.com/office/drawing/2014/main" id="{50640BF1-C339-1E1A-061F-348B749581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>
            <a:extLst>
              <a:ext uri="{FF2B5EF4-FFF2-40B4-BE49-F238E27FC236}">
                <a16:creationId xmlns:a16="http://schemas.microsoft.com/office/drawing/2014/main" id="{4B214B34-8B3D-127A-DC49-FA1DEA11A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115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09E5B410-1ACA-F387-D01C-4E42637E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>
            <a:extLst>
              <a:ext uri="{FF2B5EF4-FFF2-40B4-BE49-F238E27FC236}">
                <a16:creationId xmlns:a16="http://schemas.microsoft.com/office/drawing/2014/main" id="{C735116D-4AB6-1297-A61E-32F5A7223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>
            <a:extLst>
              <a:ext uri="{FF2B5EF4-FFF2-40B4-BE49-F238E27FC236}">
                <a16:creationId xmlns:a16="http://schemas.microsoft.com/office/drawing/2014/main" id="{5BB8A387-E368-F837-3525-76EEDE509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748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10800000" flipH="1">
              <a:off x="-125473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rot="10800000" flipH="1">
              <a:off x="-125483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rot="10800000" flipH="1">
              <a:off x="8424002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10800000" flipH="1">
              <a:off x="8423992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subTitle" idx="1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 rot="10800000" flipH="1">
              <a:off x="-528348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 rot="10800000" flipH="1">
              <a:off x="-125483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rot="10800000" flipH="1">
              <a:off x="927364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rot="10800000" flipH="1">
              <a:off x="273054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rot="10800000" flipH="1">
              <a:off x="-512036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rot="10800000" flipH="1">
              <a:off x="295217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2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subTitle" idx="3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4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6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8" r:id="rId5"/>
    <p:sldLayoutId id="2147483659" r:id="rId6"/>
    <p:sldLayoutId id="2147483660" r:id="rId7"/>
    <p:sldLayoutId id="2147483661" r:id="rId8"/>
    <p:sldLayoutId id="2147483670" r:id="rId9"/>
    <p:sldLayoutId id="2147483671" r:id="rId10"/>
    <p:sldLayoutId id="2147483672" r:id="rId11"/>
    <p:sldLayoutId id="2147483677" r:id="rId12"/>
    <p:sldLayoutId id="214748367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henryhan117/sp-500-historical-dat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Long-Term Growth Trends in the </a:t>
            </a:r>
            <a:br>
              <a:rPr lang="en-US" sz="3200" b="1" dirty="0"/>
            </a:br>
            <a:r>
              <a:rPr lang="en-US" sz="3200" b="1" dirty="0"/>
              <a:t>S&amp;P 500 Index</a:t>
            </a:r>
            <a:endParaRPr sz="3200" dirty="0"/>
          </a:p>
        </p:txBody>
      </p:sp>
      <p:sp>
        <p:nvSpPr>
          <p:cNvPr id="345" name="Google Shape;345;p36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15120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Name: Tahity Abdullah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Course: BSAN 360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Date: December 4, 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 Repository: </a:t>
            </a:r>
            <a:endParaRPr dirty="0"/>
          </a:p>
        </p:txBody>
      </p:sp>
      <p:cxnSp>
        <p:nvCxnSpPr>
          <p:cNvPr id="346" name="Google Shape;346;p36"/>
          <p:cNvCxnSpPr/>
          <p:nvPr/>
        </p:nvCxnSpPr>
        <p:spPr>
          <a:xfrm>
            <a:off x="823425" y="987213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6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88" name="Google Shape;388;p38"/>
          <p:cNvSpPr txBox="1">
            <a:spLocks noGrp="1"/>
          </p:cNvSpPr>
          <p:nvPr>
            <p:ph type="title" idx="7"/>
          </p:nvPr>
        </p:nvSpPr>
        <p:spPr>
          <a:xfrm>
            <a:off x="1531821" y="1470811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89" name="Google Shape;389;p38"/>
          <p:cNvSpPr txBox="1">
            <a:spLocks noGrp="1"/>
          </p:cNvSpPr>
          <p:nvPr>
            <p:ph type="title" idx="8"/>
          </p:nvPr>
        </p:nvSpPr>
        <p:spPr>
          <a:xfrm>
            <a:off x="2871063" y="2961075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90" name="Google Shape;390;p38"/>
          <p:cNvSpPr txBox="1">
            <a:spLocks noGrp="1"/>
          </p:cNvSpPr>
          <p:nvPr>
            <p:ph type="title" idx="9"/>
          </p:nvPr>
        </p:nvSpPr>
        <p:spPr>
          <a:xfrm>
            <a:off x="4231092" y="1470811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91" name="Google Shape;391;p38"/>
          <p:cNvSpPr txBox="1">
            <a:spLocks noGrp="1"/>
          </p:cNvSpPr>
          <p:nvPr>
            <p:ph type="title" idx="13"/>
          </p:nvPr>
        </p:nvSpPr>
        <p:spPr>
          <a:xfrm>
            <a:off x="5751152" y="2961075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92" name="Google Shape;392;p38"/>
          <p:cNvSpPr txBox="1">
            <a:spLocks noGrp="1"/>
          </p:cNvSpPr>
          <p:nvPr>
            <p:ph type="title" idx="14"/>
          </p:nvPr>
        </p:nvSpPr>
        <p:spPr>
          <a:xfrm>
            <a:off x="6930371" y="1470811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94" name="Google Shape;394;p38"/>
          <p:cNvSpPr txBox="1">
            <a:spLocks noGrp="1"/>
          </p:cNvSpPr>
          <p:nvPr>
            <p:ph type="subTitle" idx="16"/>
          </p:nvPr>
        </p:nvSpPr>
        <p:spPr>
          <a:xfrm>
            <a:off x="720000" y="2123530"/>
            <a:ext cx="2699271" cy="4848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Overview</a:t>
            </a:r>
            <a:endParaRPr dirty="0"/>
          </a:p>
        </p:txBody>
      </p:sp>
      <p:sp>
        <p:nvSpPr>
          <p:cNvPr id="395" name="Google Shape;395;p38"/>
          <p:cNvSpPr txBox="1">
            <a:spLocks noGrp="1"/>
          </p:cNvSpPr>
          <p:nvPr>
            <p:ph type="subTitle" idx="17"/>
          </p:nvPr>
        </p:nvSpPr>
        <p:spPr>
          <a:xfrm>
            <a:off x="3445692" y="206499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Hypotheses</a:t>
            </a:r>
            <a:endParaRPr dirty="0"/>
          </a:p>
        </p:txBody>
      </p:sp>
      <p:sp>
        <p:nvSpPr>
          <p:cNvPr id="396" name="Google Shape;396;p38"/>
          <p:cNvSpPr txBox="1">
            <a:spLocks noGrp="1"/>
          </p:cNvSpPr>
          <p:nvPr>
            <p:ph type="subTitle" idx="18"/>
          </p:nvPr>
        </p:nvSpPr>
        <p:spPr>
          <a:xfrm>
            <a:off x="6144970" y="206499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Visualization</a:t>
            </a:r>
            <a:endParaRPr dirty="0"/>
          </a:p>
        </p:txBody>
      </p:sp>
      <p:sp>
        <p:nvSpPr>
          <p:cNvPr id="397" name="Google Shape;397;p38"/>
          <p:cNvSpPr txBox="1">
            <a:spLocks noGrp="1"/>
          </p:cNvSpPr>
          <p:nvPr>
            <p:ph type="subTitle" idx="19"/>
          </p:nvPr>
        </p:nvSpPr>
        <p:spPr>
          <a:xfrm>
            <a:off x="1899171" y="355532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398" name="Google Shape;398;p38"/>
          <p:cNvSpPr txBox="1">
            <a:spLocks noGrp="1"/>
          </p:cNvSpPr>
          <p:nvPr>
            <p:ph type="subTitle" idx="20"/>
          </p:nvPr>
        </p:nvSpPr>
        <p:spPr>
          <a:xfrm>
            <a:off x="4965752" y="355532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713224" y="2384250"/>
            <a:ext cx="6044191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Data Overview</a:t>
            </a:r>
            <a:endParaRPr dirty="0"/>
          </a:p>
        </p:txBody>
      </p:sp>
      <p:sp>
        <p:nvSpPr>
          <p:cNvPr id="430" name="Google Shape;430;p40"/>
          <p:cNvSpPr txBox="1">
            <a:spLocks noGrp="1"/>
          </p:cNvSpPr>
          <p:nvPr>
            <p:ph type="title" idx="2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32" name="Google Shape;432;p40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/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/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/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/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/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/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/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/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0" name="Google Shape;450;p40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Description</a:t>
            </a:r>
            <a:endParaRPr dirty="0"/>
          </a:p>
        </p:txBody>
      </p:sp>
      <p:sp>
        <p:nvSpPr>
          <p:cNvPr id="456" name="Google Shape;456;p41"/>
          <p:cNvSpPr txBox="1">
            <a:spLocks noGrp="1"/>
          </p:cNvSpPr>
          <p:nvPr>
            <p:ph type="subTitle" idx="1"/>
          </p:nvPr>
        </p:nvSpPr>
        <p:spPr>
          <a:xfrm>
            <a:off x="4717026" y="1877937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Date Range: 1927–2024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/>
              <a:t>Variables included: Date, Open, High, Low, Close, Adj Close, Volume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/>
              <a:t>Main variable used: Adjusted Closing Price, because it accounts for corporate actions (splits, dividends) and best reflects true market value</a:t>
            </a:r>
          </a:p>
        </p:txBody>
      </p:sp>
      <p:sp>
        <p:nvSpPr>
          <p:cNvPr id="457" name="Google Shape;457;p41"/>
          <p:cNvSpPr txBox="1">
            <a:spLocks noGrp="1"/>
          </p:cNvSpPr>
          <p:nvPr>
            <p:ph type="subTitle" idx="2"/>
          </p:nvPr>
        </p:nvSpPr>
        <p:spPr>
          <a:xfrm>
            <a:off x="720000" y="1877937"/>
            <a:ext cx="3848514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Dataset: S&amp;P 500 Historical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Source: Kaggle — “S&amp;P 500 Historical Data”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www.kaggle.com</a:t>
            </a:r>
            <a:r>
              <a:rPr lang="en-US" dirty="0">
                <a:hlinkClick r:id="rId3"/>
              </a:rPr>
              <a:t>/datasets/henryhan117/sp-500-historical-data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Raw Size: ~23,323 daily observations, 7 variables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Descriptive Statistics</a:t>
            </a:r>
            <a:endParaRPr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8C7C589-C47A-B420-6CFA-5AF04D88D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725" y="1119188"/>
            <a:ext cx="9144000" cy="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enlo" panose="020B0609030804020204" pitchFamily="49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484AB66-974D-17AE-59C0-D19A1A549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519426"/>
              </p:ext>
            </p:extLst>
          </p:nvPr>
        </p:nvGraphicFramePr>
        <p:xfrm>
          <a:off x="1041401" y="1600216"/>
          <a:ext cx="7061198" cy="2424096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832417">
                  <a:extLst>
                    <a:ext uri="{9D8B030D-6E8A-4147-A177-3AD203B41FA5}">
                      <a16:colId xmlns:a16="http://schemas.microsoft.com/office/drawing/2014/main" val="2983661122"/>
                    </a:ext>
                  </a:extLst>
                </a:gridCol>
                <a:gridCol w="947234">
                  <a:extLst>
                    <a:ext uri="{9D8B030D-6E8A-4147-A177-3AD203B41FA5}">
                      <a16:colId xmlns:a16="http://schemas.microsoft.com/office/drawing/2014/main" val="2500603328"/>
                    </a:ext>
                  </a:extLst>
                </a:gridCol>
                <a:gridCol w="947234">
                  <a:extLst>
                    <a:ext uri="{9D8B030D-6E8A-4147-A177-3AD203B41FA5}">
                      <a16:colId xmlns:a16="http://schemas.microsoft.com/office/drawing/2014/main" val="3552213614"/>
                    </a:ext>
                  </a:extLst>
                </a:gridCol>
                <a:gridCol w="947234">
                  <a:extLst>
                    <a:ext uri="{9D8B030D-6E8A-4147-A177-3AD203B41FA5}">
                      <a16:colId xmlns:a16="http://schemas.microsoft.com/office/drawing/2014/main" val="3722242760"/>
                    </a:ext>
                  </a:extLst>
                </a:gridCol>
                <a:gridCol w="947234">
                  <a:extLst>
                    <a:ext uri="{9D8B030D-6E8A-4147-A177-3AD203B41FA5}">
                      <a16:colId xmlns:a16="http://schemas.microsoft.com/office/drawing/2014/main" val="2279866422"/>
                    </a:ext>
                  </a:extLst>
                </a:gridCol>
                <a:gridCol w="947234">
                  <a:extLst>
                    <a:ext uri="{9D8B030D-6E8A-4147-A177-3AD203B41FA5}">
                      <a16:colId xmlns:a16="http://schemas.microsoft.com/office/drawing/2014/main" val="32451483"/>
                    </a:ext>
                  </a:extLst>
                </a:gridCol>
                <a:gridCol w="1492611">
                  <a:extLst>
                    <a:ext uri="{9D8B030D-6E8A-4147-A177-3AD203B41FA5}">
                      <a16:colId xmlns:a16="http://schemas.microsoft.com/office/drawing/2014/main" val="2473544914"/>
                    </a:ext>
                  </a:extLst>
                </a:gridCol>
              </a:tblGrid>
              <a:tr h="269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Open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High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Low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Close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Adj Close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Volume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724560"/>
                  </a:ext>
                </a:extLst>
              </a:tr>
              <a:tr h="269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count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23323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23323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23323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23323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23323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23323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115387"/>
                  </a:ext>
                </a:extLst>
              </a:tr>
              <a:tr h="269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mean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487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490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484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487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487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7.69E+08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221010"/>
                  </a:ext>
                </a:extLst>
              </a:tr>
              <a:tr h="269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std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726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730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722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726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726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1.48E+09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199658"/>
                  </a:ext>
                </a:extLst>
              </a:tr>
              <a:tr h="269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min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4.4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4.4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4.4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4.4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4.4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0.0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619181"/>
                  </a:ext>
                </a:extLst>
              </a:tr>
              <a:tr h="269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25%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1.28E+06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2519688"/>
                  </a:ext>
                </a:extLst>
              </a:tr>
              <a:tr h="269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50%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100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100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99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100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100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1.73E+07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250418"/>
                  </a:ext>
                </a:extLst>
              </a:tr>
              <a:tr h="269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75%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834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844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823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835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835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5.38E+08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945332"/>
                  </a:ext>
                </a:extLst>
              </a:tr>
              <a:tr h="269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max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3565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3588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3535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3581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3581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1.15E+10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4398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Final Dataset For Analysis</a:t>
            </a:r>
            <a:endParaRPr dirty="0"/>
          </a:p>
        </p:txBody>
      </p:sp>
      <p:sp>
        <p:nvSpPr>
          <p:cNvPr id="463" name="Google Shape;463;p42"/>
          <p:cNvSpPr txBox="1">
            <a:spLocks noGrp="1"/>
          </p:cNvSpPr>
          <p:nvPr>
            <p:ph type="subTitle" idx="1"/>
          </p:nvPr>
        </p:nvSpPr>
        <p:spPr>
          <a:xfrm>
            <a:off x="720000" y="1379282"/>
            <a:ext cx="4294800" cy="21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dirty="0"/>
              <a:t>After cleaning and preparation, the final dataset used for analysis includes:</a:t>
            </a:r>
          </a:p>
          <a:p>
            <a:pPr marL="139700" indent="0">
              <a:buNone/>
            </a:pPr>
            <a:r>
              <a:rPr lang="en-US" dirty="0"/>
              <a:t>Rows: 35,000+ daily</a:t>
            </a:r>
          </a:p>
          <a:p>
            <a:pPr marL="139700" indent="0">
              <a:buNone/>
            </a:pPr>
            <a:r>
              <a:rPr lang="en-US" dirty="0"/>
              <a:t>Columns:</a:t>
            </a:r>
          </a:p>
          <a:p>
            <a:r>
              <a:rPr lang="en-US" dirty="0"/>
              <a:t>Adj Close</a:t>
            </a:r>
          </a:p>
          <a:p>
            <a:r>
              <a:rPr lang="en-US" dirty="0"/>
              <a:t>Year</a:t>
            </a:r>
          </a:p>
          <a:p>
            <a:r>
              <a:rPr lang="en-US" dirty="0"/>
              <a:t>Decade</a:t>
            </a:r>
          </a:p>
          <a:p>
            <a:r>
              <a:rPr lang="en-US" dirty="0" err="1"/>
              <a:t>Log_Close</a:t>
            </a:r>
            <a:endParaRPr lang="en-US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Time span: 1927–2024 (97 years)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Fully cleaned, consistent daily time series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No missing values in analysis variables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/>
          </a:p>
        </p:txBody>
      </p:sp>
      <p:grpSp>
        <p:nvGrpSpPr>
          <p:cNvPr id="464" name="Google Shape;464;p42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465" name="Google Shape;465;p42"/>
            <p:cNvSpPr/>
            <p:nvPr/>
          </p:nvSpPr>
          <p:spPr>
            <a:xfrm>
              <a:off x="7368520" y="9887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2"/>
            <p:cNvSpPr/>
            <p:nvPr/>
          </p:nvSpPr>
          <p:spPr>
            <a:xfrm rot="10800000" flipH="1">
              <a:off x="6036409" y="19621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7309474" y="21661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2"/>
            <p:cNvSpPr/>
            <p:nvPr/>
          </p:nvSpPr>
          <p:spPr>
            <a:xfrm>
              <a:off x="6269702" y="-4457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2"/>
            <p:cNvSpPr/>
            <p:nvPr/>
          </p:nvSpPr>
          <p:spPr>
            <a:xfrm>
              <a:off x="5830483" y="42158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2"/>
            <p:cNvSpPr/>
            <p:nvPr/>
          </p:nvSpPr>
          <p:spPr>
            <a:xfrm>
              <a:off x="6269683" y="13325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8430764" y="234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7309467" y="26182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7962441" y="131801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2"/>
            <p:cNvSpPr/>
            <p:nvPr/>
          </p:nvSpPr>
          <p:spPr>
            <a:xfrm rot="10800000" flipH="1">
              <a:off x="6351880" y="311086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2"/>
            <p:cNvSpPr/>
            <p:nvPr/>
          </p:nvSpPr>
          <p:spPr>
            <a:xfrm rot="10800000" flipH="1">
              <a:off x="6790284" y="35485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2"/>
            <p:cNvSpPr/>
            <p:nvPr/>
          </p:nvSpPr>
          <p:spPr>
            <a:xfrm rot="10800000" flipH="1">
              <a:off x="5430930" y="465091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8678783" y="266882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8430773" y="22359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2"/>
            <p:cNvSpPr/>
            <p:nvPr/>
          </p:nvSpPr>
          <p:spPr>
            <a:xfrm rot="10800000" flipH="1">
              <a:off x="8119787" y="363695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2"/>
            <p:cNvSpPr/>
            <p:nvPr/>
          </p:nvSpPr>
          <p:spPr>
            <a:xfrm rot="10800000" flipH="1">
              <a:off x="7697255" y="411247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6628072" y="11249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2"/>
            <p:cNvSpPr/>
            <p:nvPr/>
          </p:nvSpPr>
          <p:spPr>
            <a:xfrm rot="10800000" flipH="1">
              <a:off x="7825159" y="-2514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1668746B-CADC-1A20-F026-53E49213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EEC5DA0F-9DC6-09EE-BCD2-64F2BCE57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2384250"/>
            <a:ext cx="6044191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Hypotheses</a:t>
            </a:r>
            <a:endParaRPr dirty="0"/>
          </a:p>
        </p:txBody>
      </p:sp>
      <p:sp>
        <p:nvSpPr>
          <p:cNvPr id="430" name="Google Shape;430;p40">
            <a:extLst>
              <a:ext uri="{FF2B5EF4-FFF2-40B4-BE49-F238E27FC236}">
                <a16:creationId xmlns:a16="http://schemas.microsoft.com/office/drawing/2014/main" id="{48BFB238-49E4-8465-0727-532AEE23D18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432" name="Google Shape;432;p40">
            <a:extLst>
              <a:ext uri="{FF2B5EF4-FFF2-40B4-BE49-F238E27FC236}">
                <a16:creationId xmlns:a16="http://schemas.microsoft.com/office/drawing/2014/main" id="{143A231B-C0C3-3F06-8691-B8406A956982}"/>
              </a:ext>
            </a:extLst>
          </p:cNvPr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>
              <a:extLst>
                <a:ext uri="{FF2B5EF4-FFF2-40B4-BE49-F238E27FC236}">
                  <a16:creationId xmlns:a16="http://schemas.microsoft.com/office/drawing/2014/main" id="{089A3806-3067-47F9-25AA-D7389A6580C4}"/>
                </a:ext>
              </a:extLst>
            </p:cNvPr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>
              <a:extLst>
                <a:ext uri="{FF2B5EF4-FFF2-40B4-BE49-F238E27FC236}">
                  <a16:creationId xmlns:a16="http://schemas.microsoft.com/office/drawing/2014/main" id="{5FB26D2D-2DCC-09C4-1E85-D2599D4988D1}"/>
                </a:ext>
              </a:extLst>
            </p:cNvPr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>
              <a:extLst>
                <a:ext uri="{FF2B5EF4-FFF2-40B4-BE49-F238E27FC236}">
                  <a16:creationId xmlns:a16="http://schemas.microsoft.com/office/drawing/2014/main" id="{A15EFF1F-CF43-968D-927E-99EF984D5D84}"/>
                </a:ext>
              </a:extLst>
            </p:cNvPr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4858828B-7B1D-3C6F-CE16-D5B3DE023293}"/>
                </a:ext>
              </a:extLst>
            </p:cNvPr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AF197AB2-8A07-A9B9-E8D4-9FA33A913796}"/>
                </a:ext>
              </a:extLst>
            </p:cNvPr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E6724229-D1B1-D27C-5713-42FD8CFFE8DA}"/>
                </a:ext>
              </a:extLst>
            </p:cNvPr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EA863831-83CC-D844-9010-28CC7BEB3B28}"/>
                </a:ext>
              </a:extLst>
            </p:cNvPr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>
              <a:extLst>
                <a:ext uri="{FF2B5EF4-FFF2-40B4-BE49-F238E27FC236}">
                  <a16:creationId xmlns:a16="http://schemas.microsoft.com/office/drawing/2014/main" id="{E250A0ED-E69C-9248-8AEF-69ECBB465E47}"/>
                </a:ext>
              </a:extLst>
            </p:cNvPr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>
              <a:extLst>
                <a:ext uri="{FF2B5EF4-FFF2-40B4-BE49-F238E27FC236}">
                  <a16:creationId xmlns:a16="http://schemas.microsoft.com/office/drawing/2014/main" id="{DE718422-F6A1-88CA-1AF1-28631E2BFBB2}"/>
                </a:ext>
              </a:extLst>
            </p:cNvPr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>
              <a:extLst>
                <a:ext uri="{FF2B5EF4-FFF2-40B4-BE49-F238E27FC236}">
                  <a16:creationId xmlns:a16="http://schemas.microsoft.com/office/drawing/2014/main" id="{21F2EE4A-534A-E17A-A994-480002A4FBCC}"/>
                </a:ext>
              </a:extLst>
            </p:cNvPr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>
              <a:extLst>
                <a:ext uri="{FF2B5EF4-FFF2-40B4-BE49-F238E27FC236}">
                  <a16:creationId xmlns:a16="http://schemas.microsoft.com/office/drawing/2014/main" id="{EB033D13-96E4-7450-BA5A-7F2DCBE5EE15}"/>
                </a:ext>
              </a:extLst>
            </p:cNvPr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>
              <a:extLst>
                <a:ext uri="{FF2B5EF4-FFF2-40B4-BE49-F238E27FC236}">
                  <a16:creationId xmlns:a16="http://schemas.microsoft.com/office/drawing/2014/main" id="{940E6274-0BC3-0396-12AD-6A789C9C9178}"/>
                </a:ext>
              </a:extLst>
            </p:cNvPr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>
              <a:extLst>
                <a:ext uri="{FF2B5EF4-FFF2-40B4-BE49-F238E27FC236}">
                  <a16:creationId xmlns:a16="http://schemas.microsoft.com/office/drawing/2014/main" id="{D674AA98-6899-9FAA-1F69-CD20E0F842B7}"/>
                </a:ext>
              </a:extLst>
            </p:cNvPr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>
              <a:extLst>
                <a:ext uri="{FF2B5EF4-FFF2-40B4-BE49-F238E27FC236}">
                  <a16:creationId xmlns:a16="http://schemas.microsoft.com/office/drawing/2014/main" id="{053E6056-B0AA-AF33-4D6B-5483AE172031}"/>
                </a:ext>
              </a:extLst>
            </p:cNvPr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>
              <a:extLst>
                <a:ext uri="{FF2B5EF4-FFF2-40B4-BE49-F238E27FC236}">
                  <a16:creationId xmlns:a16="http://schemas.microsoft.com/office/drawing/2014/main" id="{B300D682-328A-BBEF-DE30-8179763C0BB5}"/>
                </a:ext>
              </a:extLst>
            </p:cNvPr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>
              <a:extLst>
                <a:ext uri="{FF2B5EF4-FFF2-40B4-BE49-F238E27FC236}">
                  <a16:creationId xmlns:a16="http://schemas.microsoft.com/office/drawing/2014/main" id="{33F630A8-6364-993B-8B46-9AA69A3AD726}"/>
                </a:ext>
              </a:extLst>
            </p:cNvPr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>
              <a:extLst>
                <a:ext uri="{FF2B5EF4-FFF2-40B4-BE49-F238E27FC236}">
                  <a16:creationId xmlns:a16="http://schemas.microsoft.com/office/drawing/2014/main" id="{8F5C5FC1-B68D-0D48-C729-456084566E82}"/>
                </a:ext>
              </a:extLst>
            </p:cNvPr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0" name="Google Shape;450;p40">
            <a:extLst>
              <a:ext uri="{FF2B5EF4-FFF2-40B4-BE49-F238E27FC236}">
                <a16:creationId xmlns:a16="http://schemas.microsoft.com/office/drawing/2014/main" id="{BF0B3F61-7A3E-3016-B390-16654D04C6B3}"/>
              </a:ext>
            </a:extLst>
          </p:cNvPr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66435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>
          <a:extLst>
            <a:ext uri="{FF2B5EF4-FFF2-40B4-BE49-F238E27FC236}">
              <a16:creationId xmlns:a16="http://schemas.microsoft.com/office/drawing/2014/main" id="{D3736032-5DDE-8B59-333B-D9CA50E4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8">
            <a:extLst>
              <a:ext uri="{FF2B5EF4-FFF2-40B4-BE49-F238E27FC236}">
                <a16:creationId xmlns:a16="http://schemas.microsoft.com/office/drawing/2014/main" id="{15738418-4F1F-FB03-FB3F-A6D8E75442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26413" y="1366200"/>
            <a:ext cx="6691200" cy="330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has the long-term growth rate of the S&amp;P 500 evolved over time, and do annual and decade-level patterns reveal statistically significant differences in market performance?</a:t>
            </a:r>
            <a:endParaRPr dirty="0"/>
          </a:p>
        </p:txBody>
      </p:sp>
      <p:sp>
        <p:nvSpPr>
          <p:cNvPr id="645" name="Google Shape;645;p48">
            <a:extLst>
              <a:ext uri="{FF2B5EF4-FFF2-40B4-BE49-F238E27FC236}">
                <a16:creationId xmlns:a16="http://schemas.microsoft.com/office/drawing/2014/main" id="{1D81DDB3-1780-F04A-DF1D-597D902719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6400" y="811214"/>
            <a:ext cx="66912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9142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>
          <a:extLst>
            <a:ext uri="{FF2B5EF4-FFF2-40B4-BE49-F238E27FC236}">
              <a16:creationId xmlns:a16="http://schemas.microsoft.com/office/drawing/2014/main" id="{3D37D176-2F0C-B961-F176-96CE941DD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2">
            <a:extLst>
              <a:ext uri="{FF2B5EF4-FFF2-40B4-BE49-F238E27FC236}">
                <a16:creationId xmlns:a16="http://schemas.microsoft.com/office/drawing/2014/main" id="{D95E482D-290F-C092-3D78-0159600A99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Time Trend vs. Decade Variation</a:t>
            </a:r>
          </a:p>
        </p:txBody>
      </p:sp>
      <p:sp>
        <p:nvSpPr>
          <p:cNvPr id="960" name="Google Shape;960;p62">
            <a:extLst>
              <a:ext uri="{FF2B5EF4-FFF2-40B4-BE49-F238E27FC236}">
                <a16:creationId xmlns:a16="http://schemas.microsoft.com/office/drawing/2014/main" id="{D3525D7F-A782-2054-E609-1EBA4DF37A29}"/>
              </a:ext>
            </a:extLst>
          </p:cNvPr>
          <p:cNvSpPr txBox="1"/>
          <p:nvPr/>
        </p:nvSpPr>
        <p:spPr>
          <a:xfrm>
            <a:off x="1914450" y="2329733"/>
            <a:ext cx="23622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</a:pPr>
            <a:r>
              <a:rPr lang="en-US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H₀ (Null)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There is no relationship between time and the log of the S&amp;P 500 adjusted closing price.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</a:pP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1" name="Google Shape;961;p62">
            <a:extLst>
              <a:ext uri="{FF2B5EF4-FFF2-40B4-BE49-F238E27FC236}">
                <a16:creationId xmlns:a16="http://schemas.microsoft.com/office/drawing/2014/main" id="{23987239-8C8C-9158-9D72-F0ACB1D25C3C}"/>
              </a:ext>
            </a:extLst>
          </p:cNvPr>
          <p:cNvSpPr txBox="1"/>
          <p:nvPr/>
        </p:nvSpPr>
        <p:spPr>
          <a:xfrm>
            <a:off x="1914462" y="3651952"/>
            <a:ext cx="2769299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None/>
            </a:pPr>
            <a:r>
              <a:rPr lang="en-US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H₁ (Alternative)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There is a significant upward relationship between time and log price.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2" name="Google Shape;962;p62">
            <a:extLst>
              <a:ext uri="{FF2B5EF4-FFF2-40B4-BE49-F238E27FC236}">
                <a16:creationId xmlns:a16="http://schemas.microsoft.com/office/drawing/2014/main" id="{491B8D8B-0B31-8409-3FDD-912505AD8765}"/>
              </a:ext>
            </a:extLst>
          </p:cNvPr>
          <p:cNvSpPr txBox="1"/>
          <p:nvPr/>
        </p:nvSpPr>
        <p:spPr>
          <a:xfrm>
            <a:off x="1507350" y="1295950"/>
            <a:ext cx="2769300" cy="520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Regression</a:t>
            </a:r>
            <a:endParaRPr sz="2400" b="1" dirty="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64" name="Google Shape;964;p62">
            <a:extLst>
              <a:ext uri="{FF2B5EF4-FFF2-40B4-BE49-F238E27FC236}">
                <a16:creationId xmlns:a16="http://schemas.microsoft.com/office/drawing/2014/main" id="{CC05A569-B06B-FD8B-86E9-91336663229B}"/>
              </a:ext>
            </a:extLst>
          </p:cNvPr>
          <p:cNvCxnSpPr>
            <a:stCxn id="962" idx="1"/>
            <a:endCxn id="960" idx="1"/>
          </p:cNvCxnSpPr>
          <p:nvPr/>
        </p:nvCxnSpPr>
        <p:spPr>
          <a:xfrm rot="10800000" flipH="1" flipV="1">
            <a:off x="1507350" y="1556049"/>
            <a:ext cx="407100" cy="1165783"/>
          </a:xfrm>
          <a:prstGeom prst="bentConnector3">
            <a:avLst>
              <a:gd name="adj1" fmla="val -5615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5" name="Google Shape;965;p62">
            <a:extLst>
              <a:ext uri="{FF2B5EF4-FFF2-40B4-BE49-F238E27FC236}">
                <a16:creationId xmlns:a16="http://schemas.microsoft.com/office/drawing/2014/main" id="{288A33B6-CBC8-C57A-1551-2EF663E1EF4E}"/>
              </a:ext>
            </a:extLst>
          </p:cNvPr>
          <p:cNvCxnSpPr>
            <a:cxnSpLocks/>
            <a:stCxn id="962" idx="1"/>
            <a:endCxn id="961" idx="1"/>
          </p:cNvCxnSpPr>
          <p:nvPr/>
        </p:nvCxnSpPr>
        <p:spPr>
          <a:xfrm rot="10800000" flipH="1" flipV="1">
            <a:off x="1507350" y="1556050"/>
            <a:ext cx="407112" cy="2488002"/>
          </a:xfrm>
          <a:prstGeom prst="bentConnector3">
            <a:avLst>
              <a:gd name="adj1" fmla="val -5615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7" name="Google Shape;967;p62">
            <a:extLst>
              <a:ext uri="{FF2B5EF4-FFF2-40B4-BE49-F238E27FC236}">
                <a16:creationId xmlns:a16="http://schemas.microsoft.com/office/drawing/2014/main" id="{E78D2A58-F0C1-5E5A-4C74-E2B73E531C5E}"/>
              </a:ext>
            </a:extLst>
          </p:cNvPr>
          <p:cNvSpPr txBox="1"/>
          <p:nvPr/>
        </p:nvSpPr>
        <p:spPr>
          <a:xfrm>
            <a:off x="5773075" y="2179650"/>
            <a:ext cx="23622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None/>
            </a:pPr>
            <a:r>
              <a:rPr lang="en-US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H₀ (Null)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mean adjusted closing price is the same across all decades.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</a:t>
            </a:r>
            <a:r>
              <a:rPr lang="el-GR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μ₁ = μ₂ = μ₃ = …)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8" name="Google Shape;968;p62">
            <a:extLst>
              <a:ext uri="{FF2B5EF4-FFF2-40B4-BE49-F238E27FC236}">
                <a16:creationId xmlns:a16="http://schemas.microsoft.com/office/drawing/2014/main" id="{DCF28E6B-F4C7-6CC5-BA51-5A338C2FDD3F}"/>
              </a:ext>
            </a:extLst>
          </p:cNvPr>
          <p:cNvSpPr txBox="1"/>
          <p:nvPr/>
        </p:nvSpPr>
        <p:spPr>
          <a:xfrm>
            <a:off x="5773074" y="3627514"/>
            <a:ext cx="2523027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</a:pPr>
            <a:r>
              <a:rPr lang="en-US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H₁ (Alternative)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 least one decade’s mean adjusted closing price differs from the others.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(Not all </a:t>
            </a:r>
            <a:r>
              <a:rPr lang="el-GR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μ </a:t>
            </a: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are equal)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9" name="Google Shape;969;p62">
            <a:extLst>
              <a:ext uri="{FF2B5EF4-FFF2-40B4-BE49-F238E27FC236}">
                <a16:creationId xmlns:a16="http://schemas.microsoft.com/office/drawing/2014/main" id="{A1BD71BF-0095-3EEC-D534-2C4DF144EBC9}"/>
              </a:ext>
            </a:extLst>
          </p:cNvPr>
          <p:cNvSpPr txBox="1"/>
          <p:nvPr/>
        </p:nvSpPr>
        <p:spPr>
          <a:xfrm>
            <a:off x="5365950" y="1295950"/>
            <a:ext cx="2769300" cy="520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Anova</a:t>
            </a:r>
            <a:endParaRPr sz="2400" b="1" dirty="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71" name="Google Shape;971;p62">
            <a:extLst>
              <a:ext uri="{FF2B5EF4-FFF2-40B4-BE49-F238E27FC236}">
                <a16:creationId xmlns:a16="http://schemas.microsoft.com/office/drawing/2014/main" id="{C88A651B-8831-4927-A072-BF387807B6F7}"/>
              </a:ext>
            </a:extLst>
          </p:cNvPr>
          <p:cNvCxnSpPr>
            <a:stCxn id="969" idx="1"/>
            <a:endCxn id="967" idx="1"/>
          </p:cNvCxnSpPr>
          <p:nvPr/>
        </p:nvCxnSpPr>
        <p:spPr>
          <a:xfrm rot="10800000" flipH="1" flipV="1">
            <a:off x="5365949" y="1556050"/>
            <a:ext cx="407125" cy="1015700"/>
          </a:xfrm>
          <a:prstGeom prst="bentConnector3">
            <a:avLst>
              <a:gd name="adj1" fmla="val -5615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2" name="Google Shape;972;p62">
            <a:extLst>
              <a:ext uri="{FF2B5EF4-FFF2-40B4-BE49-F238E27FC236}">
                <a16:creationId xmlns:a16="http://schemas.microsoft.com/office/drawing/2014/main" id="{6B292B7B-B5CD-0439-C124-C836B50BD5EC}"/>
              </a:ext>
            </a:extLst>
          </p:cNvPr>
          <p:cNvCxnSpPr>
            <a:cxnSpLocks/>
            <a:stCxn id="969" idx="1"/>
            <a:endCxn id="968" idx="1"/>
          </p:cNvCxnSpPr>
          <p:nvPr/>
        </p:nvCxnSpPr>
        <p:spPr>
          <a:xfrm rot="10800000" flipH="1" flipV="1">
            <a:off x="5365950" y="1556050"/>
            <a:ext cx="407124" cy="2463564"/>
          </a:xfrm>
          <a:prstGeom prst="bentConnector3">
            <a:avLst>
              <a:gd name="adj1" fmla="val -5615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16916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75941BE6-5840-44A2-20CD-713C9192F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A40A8767-B437-79A0-2ABE-613F8732BA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2384250"/>
            <a:ext cx="6044191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Visualization</a:t>
            </a:r>
            <a:endParaRPr dirty="0"/>
          </a:p>
        </p:txBody>
      </p:sp>
      <p:sp>
        <p:nvSpPr>
          <p:cNvPr id="430" name="Google Shape;430;p40">
            <a:extLst>
              <a:ext uri="{FF2B5EF4-FFF2-40B4-BE49-F238E27FC236}">
                <a16:creationId xmlns:a16="http://schemas.microsoft.com/office/drawing/2014/main" id="{42D60601-95D8-8D50-FC00-AB5E1999705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432" name="Google Shape;432;p40">
            <a:extLst>
              <a:ext uri="{FF2B5EF4-FFF2-40B4-BE49-F238E27FC236}">
                <a16:creationId xmlns:a16="http://schemas.microsoft.com/office/drawing/2014/main" id="{D8A0E437-4165-3B7E-0523-F4CE55B004FF}"/>
              </a:ext>
            </a:extLst>
          </p:cNvPr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>
              <a:extLst>
                <a:ext uri="{FF2B5EF4-FFF2-40B4-BE49-F238E27FC236}">
                  <a16:creationId xmlns:a16="http://schemas.microsoft.com/office/drawing/2014/main" id="{D320548E-1AA1-1ABE-DBEE-6E1F64322FFE}"/>
                </a:ext>
              </a:extLst>
            </p:cNvPr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>
              <a:extLst>
                <a:ext uri="{FF2B5EF4-FFF2-40B4-BE49-F238E27FC236}">
                  <a16:creationId xmlns:a16="http://schemas.microsoft.com/office/drawing/2014/main" id="{3299169C-E903-6A84-8025-B702528F3B8D}"/>
                </a:ext>
              </a:extLst>
            </p:cNvPr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>
              <a:extLst>
                <a:ext uri="{FF2B5EF4-FFF2-40B4-BE49-F238E27FC236}">
                  <a16:creationId xmlns:a16="http://schemas.microsoft.com/office/drawing/2014/main" id="{074044AD-7D7E-D410-9605-957FC8FF4BF4}"/>
                </a:ext>
              </a:extLst>
            </p:cNvPr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19601C7C-144B-F169-28D1-7C1BCE7B4C08}"/>
                </a:ext>
              </a:extLst>
            </p:cNvPr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AC81B42F-A852-8C5A-4B62-959FF091D0E3}"/>
                </a:ext>
              </a:extLst>
            </p:cNvPr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7B5D24B3-95AD-0F72-935C-BA715DE13780}"/>
                </a:ext>
              </a:extLst>
            </p:cNvPr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8E7E12FA-0D67-286D-0FA5-1807E09DC3AD}"/>
                </a:ext>
              </a:extLst>
            </p:cNvPr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>
              <a:extLst>
                <a:ext uri="{FF2B5EF4-FFF2-40B4-BE49-F238E27FC236}">
                  <a16:creationId xmlns:a16="http://schemas.microsoft.com/office/drawing/2014/main" id="{72B10F8C-3E64-F1ED-000B-119105D30807}"/>
                </a:ext>
              </a:extLst>
            </p:cNvPr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>
              <a:extLst>
                <a:ext uri="{FF2B5EF4-FFF2-40B4-BE49-F238E27FC236}">
                  <a16:creationId xmlns:a16="http://schemas.microsoft.com/office/drawing/2014/main" id="{8E0547B1-6741-34A2-7589-EDCE065F8EFF}"/>
                </a:ext>
              </a:extLst>
            </p:cNvPr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>
              <a:extLst>
                <a:ext uri="{FF2B5EF4-FFF2-40B4-BE49-F238E27FC236}">
                  <a16:creationId xmlns:a16="http://schemas.microsoft.com/office/drawing/2014/main" id="{67BB5407-57A0-20A1-1DF3-61BDD0F6BCAB}"/>
                </a:ext>
              </a:extLst>
            </p:cNvPr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>
              <a:extLst>
                <a:ext uri="{FF2B5EF4-FFF2-40B4-BE49-F238E27FC236}">
                  <a16:creationId xmlns:a16="http://schemas.microsoft.com/office/drawing/2014/main" id="{8788DFC8-14C1-BCB3-C720-9DF635FC7186}"/>
                </a:ext>
              </a:extLst>
            </p:cNvPr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>
              <a:extLst>
                <a:ext uri="{FF2B5EF4-FFF2-40B4-BE49-F238E27FC236}">
                  <a16:creationId xmlns:a16="http://schemas.microsoft.com/office/drawing/2014/main" id="{5477EFCE-B63D-8BC0-A3A4-4E5EF2D93C04}"/>
                </a:ext>
              </a:extLst>
            </p:cNvPr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>
              <a:extLst>
                <a:ext uri="{FF2B5EF4-FFF2-40B4-BE49-F238E27FC236}">
                  <a16:creationId xmlns:a16="http://schemas.microsoft.com/office/drawing/2014/main" id="{F65A2AB9-36F5-F94B-CB1F-D84F23339EB6}"/>
                </a:ext>
              </a:extLst>
            </p:cNvPr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>
              <a:extLst>
                <a:ext uri="{FF2B5EF4-FFF2-40B4-BE49-F238E27FC236}">
                  <a16:creationId xmlns:a16="http://schemas.microsoft.com/office/drawing/2014/main" id="{9B6E590D-D654-9FB9-65C8-4D16911F9574}"/>
                </a:ext>
              </a:extLst>
            </p:cNvPr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>
              <a:extLst>
                <a:ext uri="{FF2B5EF4-FFF2-40B4-BE49-F238E27FC236}">
                  <a16:creationId xmlns:a16="http://schemas.microsoft.com/office/drawing/2014/main" id="{CB660CA9-5C51-ED66-3117-E6EAE5CA9232}"/>
                </a:ext>
              </a:extLst>
            </p:cNvPr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>
              <a:extLst>
                <a:ext uri="{FF2B5EF4-FFF2-40B4-BE49-F238E27FC236}">
                  <a16:creationId xmlns:a16="http://schemas.microsoft.com/office/drawing/2014/main" id="{B4320829-8949-7F4A-5DB4-CBEB95150385}"/>
                </a:ext>
              </a:extLst>
            </p:cNvPr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>
              <a:extLst>
                <a:ext uri="{FF2B5EF4-FFF2-40B4-BE49-F238E27FC236}">
                  <a16:creationId xmlns:a16="http://schemas.microsoft.com/office/drawing/2014/main" id="{9FF7B328-E3F6-987A-EE9F-40A779A51863}"/>
                </a:ext>
              </a:extLst>
            </p:cNvPr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0" name="Google Shape;450;p40">
            <a:extLst>
              <a:ext uri="{FF2B5EF4-FFF2-40B4-BE49-F238E27FC236}">
                <a16:creationId xmlns:a16="http://schemas.microsoft.com/office/drawing/2014/main" id="{BF210711-ADB7-4812-6DF5-36B298FDECC7}"/>
              </a:ext>
            </a:extLst>
          </p:cNvPr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86238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>
          <a:extLst>
            <a:ext uri="{FF2B5EF4-FFF2-40B4-BE49-F238E27FC236}">
              <a16:creationId xmlns:a16="http://schemas.microsoft.com/office/drawing/2014/main" id="{D8B14BB3-2B9C-F0B3-B84E-C26AA38F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">
            <a:extLst>
              <a:ext uri="{FF2B5EF4-FFF2-40B4-BE49-F238E27FC236}">
                <a16:creationId xmlns:a16="http://schemas.microsoft.com/office/drawing/2014/main" id="{9A9AC47C-6784-4664-C9C2-264749E080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Full Period Trend</a:t>
            </a:r>
            <a:endParaRPr dirty="0"/>
          </a:p>
        </p:txBody>
      </p:sp>
      <p:sp>
        <p:nvSpPr>
          <p:cNvPr id="937" name="Google Shape;937;p60">
            <a:extLst>
              <a:ext uri="{FF2B5EF4-FFF2-40B4-BE49-F238E27FC236}">
                <a16:creationId xmlns:a16="http://schemas.microsoft.com/office/drawing/2014/main" id="{0855262B-144E-6BEC-09E1-1C612B8AB3EF}"/>
              </a:ext>
            </a:extLst>
          </p:cNvPr>
          <p:cNvSpPr txBox="1"/>
          <p:nvPr/>
        </p:nvSpPr>
        <p:spPr>
          <a:xfrm>
            <a:off x="888000" y="1745625"/>
            <a:ext cx="2784114" cy="2568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Long-term exponential growth from 1927 to 2025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Clear structural breaks around: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Great Depression (1930s)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Dot-Com Crash (2000–2002)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Financial Crisis (2008)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COVID-19 Crash &amp; Recovery (2020+)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9" name="Google Shape;939;p60">
            <a:extLst>
              <a:ext uri="{FF2B5EF4-FFF2-40B4-BE49-F238E27FC236}">
                <a16:creationId xmlns:a16="http://schemas.microsoft.com/office/drawing/2014/main" id="{9F7A4D79-2A78-C25B-2A08-4CCAFB21EFC3}"/>
              </a:ext>
            </a:extLst>
          </p:cNvPr>
          <p:cNvSpPr txBox="1"/>
          <p:nvPr/>
        </p:nvSpPr>
        <p:spPr>
          <a:xfrm>
            <a:off x="888000" y="1387197"/>
            <a:ext cx="21753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Key Insights</a:t>
            </a:r>
            <a:endParaRPr sz="2400" b="1" dirty="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" name="Picture 2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92024932-CC18-8426-A3E1-15C0CC447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028" y="1480456"/>
            <a:ext cx="4553872" cy="247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29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>
          <a:extLst>
            <a:ext uri="{FF2B5EF4-FFF2-40B4-BE49-F238E27FC236}">
              <a16:creationId xmlns:a16="http://schemas.microsoft.com/office/drawing/2014/main" id="{10EC63E7-E47B-BCCF-C118-DFA19F60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">
            <a:extLst>
              <a:ext uri="{FF2B5EF4-FFF2-40B4-BE49-F238E27FC236}">
                <a16:creationId xmlns:a16="http://schemas.microsoft.com/office/drawing/2014/main" id="{256C389F-43FE-6195-E44B-333E3E4DBE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Annual Growth Trend</a:t>
            </a:r>
            <a:endParaRPr dirty="0"/>
          </a:p>
        </p:txBody>
      </p:sp>
      <p:sp>
        <p:nvSpPr>
          <p:cNvPr id="937" name="Google Shape;937;p60">
            <a:extLst>
              <a:ext uri="{FF2B5EF4-FFF2-40B4-BE49-F238E27FC236}">
                <a16:creationId xmlns:a16="http://schemas.microsoft.com/office/drawing/2014/main" id="{11C27F86-5841-BA45-6541-5DA497B5350E}"/>
              </a:ext>
            </a:extLst>
          </p:cNvPr>
          <p:cNvSpPr txBox="1"/>
          <p:nvPr/>
        </p:nvSpPr>
        <p:spPr>
          <a:xfrm>
            <a:off x="720000" y="1756511"/>
            <a:ext cx="3283028" cy="2568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Highly volatile yearly returns: strong mix of positive and negative years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Largest losses: 1930s, 1970s, 2008, 2020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Long sequences of strong gains: 1950s, 1980s, 2010s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Annual growth is noisy. Supports use of log-trend regression to capture long-term pattern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9" name="Google Shape;939;p60">
            <a:extLst>
              <a:ext uri="{FF2B5EF4-FFF2-40B4-BE49-F238E27FC236}">
                <a16:creationId xmlns:a16="http://schemas.microsoft.com/office/drawing/2014/main" id="{11133A4E-89E1-6680-AEB3-DA5A271D6F7E}"/>
              </a:ext>
            </a:extLst>
          </p:cNvPr>
          <p:cNvSpPr txBox="1"/>
          <p:nvPr/>
        </p:nvSpPr>
        <p:spPr>
          <a:xfrm>
            <a:off x="720000" y="1398082"/>
            <a:ext cx="21753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Key Insights</a:t>
            </a:r>
            <a:endParaRPr sz="2400" b="1" dirty="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" name="Picture 3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870B1A09-B3B9-2300-8666-03815851A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829" y="1756511"/>
            <a:ext cx="4750148" cy="256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31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>
          <a:extLst>
            <a:ext uri="{FF2B5EF4-FFF2-40B4-BE49-F238E27FC236}">
              <a16:creationId xmlns:a16="http://schemas.microsoft.com/office/drawing/2014/main" id="{E0DACD08-3234-2A19-43A3-355528D8D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">
            <a:extLst>
              <a:ext uri="{FF2B5EF4-FFF2-40B4-BE49-F238E27FC236}">
                <a16:creationId xmlns:a16="http://schemas.microsoft.com/office/drawing/2014/main" id="{4110F30E-2520-4987-C073-02197989B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Decade Level Summary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FDC282-0691-51F9-8D80-7EA43E236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524062"/>
              </p:ext>
            </p:extLst>
          </p:nvPr>
        </p:nvGraphicFramePr>
        <p:xfrm>
          <a:off x="1302749" y="1227185"/>
          <a:ext cx="6657541" cy="2689130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1352820">
                  <a:extLst>
                    <a:ext uri="{9D8B030D-6E8A-4147-A177-3AD203B41FA5}">
                      <a16:colId xmlns:a16="http://schemas.microsoft.com/office/drawing/2014/main" val="1516639214"/>
                    </a:ext>
                  </a:extLst>
                </a:gridCol>
                <a:gridCol w="1741987">
                  <a:extLst>
                    <a:ext uri="{9D8B030D-6E8A-4147-A177-3AD203B41FA5}">
                      <a16:colId xmlns:a16="http://schemas.microsoft.com/office/drawing/2014/main" val="1448308905"/>
                    </a:ext>
                  </a:extLst>
                </a:gridCol>
                <a:gridCol w="2131154">
                  <a:extLst>
                    <a:ext uri="{9D8B030D-6E8A-4147-A177-3AD203B41FA5}">
                      <a16:colId xmlns:a16="http://schemas.microsoft.com/office/drawing/2014/main" val="3522615389"/>
                    </a:ext>
                  </a:extLst>
                </a:gridCol>
                <a:gridCol w="1431580">
                  <a:extLst>
                    <a:ext uri="{9D8B030D-6E8A-4147-A177-3AD203B41FA5}">
                      <a16:colId xmlns:a16="http://schemas.microsoft.com/office/drawing/2014/main" val="3470724963"/>
                    </a:ext>
                  </a:extLst>
                </a:gridCol>
              </a:tblGrid>
              <a:tr h="3924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Decade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 err="1">
                          <a:effectLst/>
                        </a:rPr>
                        <a:t>Avg_Close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 err="1">
                          <a:effectLst/>
                        </a:rPr>
                        <a:t>Median_Close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 err="1">
                          <a:effectLst/>
                        </a:rPr>
                        <a:t>Decade_Volatility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622412"/>
                  </a:ext>
                </a:extLst>
              </a:tr>
              <a:tr h="2087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1920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23.0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22.3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4.0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929182"/>
                  </a:ext>
                </a:extLst>
              </a:tr>
              <a:tr h="2087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1930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12.6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11.7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4.3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29319"/>
                  </a:ext>
                </a:extLst>
              </a:tr>
              <a:tr h="2087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1940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13.2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13.3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2.8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21544"/>
                  </a:ext>
                </a:extLst>
              </a:tr>
              <a:tr h="2087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1950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35.5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35.4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12.7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163655"/>
                  </a:ext>
                </a:extLst>
              </a:tr>
              <a:tr h="2087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1960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79.5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82.3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14.9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728391"/>
                  </a:ext>
                </a:extLst>
              </a:tr>
              <a:tr h="2087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1970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96.6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98.8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10.7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726472"/>
                  </a:ext>
                </a:extLst>
              </a:tr>
              <a:tr h="2087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1980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198.6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170.4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72.1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798096"/>
                  </a:ext>
                </a:extLst>
              </a:tr>
              <a:tr h="2087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1990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653.3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473.0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321.2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175245"/>
                  </a:ext>
                </a:extLst>
              </a:tr>
              <a:tr h="2087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2000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1187.3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1190.2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198.0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868318"/>
                  </a:ext>
                </a:extLst>
              </a:tr>
              <a:tr h="2087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2010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1962.6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1986.5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588.9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632969"/>
                  </a:ext>
                </a:extLst>
              </a:tr>
              <a:tr h="2087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2020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3140.0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3236.3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283.3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13590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FAED454-8EA0-56DD-2D57-FA66352DF3E2}"/>
              </a:ext>
            </a:extLst>
          </p:cNvPr>
          <p:cNvSpPr/>
          <p:nvPr/>
        </p:nvSpPr>
        <p:spPr>
          <a:xfrm>
            <a:off x="1302749" y="4125775"/>
            <a:ext cx="6657541" cy="90187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Mean price, median price, and volatility all rise dramatically over decades</a:t>
            </a:r>
          </a:p>
          <a:p>
            <a:pPr algn="ctr"/>
            <a:r>
              <a:rPr lang="en-US" dirty="0"/>
              <a:t>Volatility spikes in modern decades (1990s–2020s)</a:t>
            </a:r>
          </a:p>
          <a:p>
            <a:pPr algn="ctr"/>
            <a:r>
              <a:rPr lang="en-US" dirty="0"/>
              <a:t>Decades show structured differences, motivating formal testing (ANOVA)</a:t>
            </a:r>
          </a:p>
        </p:txBody>
      </p:sp>
    </p:spTree>
    <p:extLst>
      <p:ext uri="{BB962C8B-B14F-4D97-AF65-F5344CB8AC3E}">
        <p14:creationId xmlns:p14="http://schemas.microsoft.com/office/powerpoint/2010/main" val="472613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66C8C5F7-C934-199C-972D-57300B7A8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8006818A-B5AD-A45B-B397-24872959B9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2384250"/>
            <a:ext cx="6044191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Results</a:t>
            </a:r>
            <a:endParaRPr dirty="0"/>
          </a:p>
        </p:txBody>
      </p:sp>
      <p:sp>
        <p:nvSpPr>
          <p:cNvPr id="430" name="Google Shape;430;p40">
            <a:extLst>
              <a:ext uri="{FF2B5EF4-FFF2-40B4-BE49-F238E27FC236}">
                <a16:creationId xmlns:a16="http://schemas.microsoft.com/office/drawing/2014/main" id="{031ED7AF-F167-AAA9-6C93-BD7648D48B2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432" name="Google Shape;432;p40">
            <a:extLst>
              <a:ext uri="{FF2B5EF4-FFF2-40B4-BE49-F238E27FC236}">
                <a16:creationId xmlns:a16="http://schemas.microsoft.com/office/drawing/2014/main" id="{165EE5B1-9F8E-66C9-8D17-0F32A917C308}"/>
              </a:ext>
            </a:extLst>
          </p:cNvPr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>
              <a:extLst>
                <a:ext uri="{FF2B5EF4-FFF2-40B4-BE49-F238E27FC236}">
                  <a16:creationId xmlns:a16="http://schemas.microsoft.com/office/drawing/2014/main" id="{DCB168CE-DC03-A2FD-AD1D-B6A951117354}"/>
                </a:ext>
              </a:extLst>
            </p:cNvPr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>
              <a:extLst>
                <a:ext uri="{FF2B5EF4-FFF2-40B4-BE49-F238E27FC236}">
                  <a16:creationId xmlns:a16="http://schemas.microsoft.com/office/drawing/2014/main" id="{C5DA6661-F94C-DFA4-0B19-81B3370A675F}"/>
                </a:ext>
              </a:extLst>
            </p:cNvPr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>
              <a:extLst>
                <a:ext uri="{FF2B5EF4-FFF2-40B4-BE49-F238E27FC236}">
                  <a16:creationId xmlns:a16="http://schemas.microsoft.com/office/drawing/2014/main" id="{FA3094CB-49B1-7E08-2F75-DE2A9407224C}"/>
                </a:ext>
              </a:extLst>
            </p:cNvPr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A435B326-E0B9-B2C3-96C5-19FEB990E19D}"/>
                </a:ext>
              </a:extLst>
            </p:cNvPr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7E455993-806B-5568-6D24-F2C19A3066FA}"/>
                </a:ext>
              </a:extLst>
            </p:cNvPr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70D6616B-02BB-6050-B199-C961041CC91D}"/>
                </a:ext>
              </a:extLst>
            </p:cNvPr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5D8632DE-EEC7-FDFC-95B2-F1A98C5072E1}"/>
                </a:ext>
              </a:extLst>
            </p:cNvPr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>
              <a:extLst>
                <a:ext uri="{FF2B5EF4-FFF2-40B4-BE49-F238E27FC236}">
                  <a16:creationId xmlns:a16="http://schemas.microsoft.com/office/drawing/2014/main" id="{285093A5-DB69-DFC9-EA8B-6A45371837BF}"/>
                </a:ext>
              </a:extLst>
            </p:cNvPr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>
              <a:extLst>
                <a:ext uri="{FF2B5EF4-FFF2-40B4-BE49-F238E27FC236}">
                  <a16:creationId xmlns:a16="http://schemas.microsoft.com/office/drawing/2014/main" id="{E9DD279E-1DAC-0CCE-7875-EDEC0A6373B1}"/>
                </a:ext>
              </a:extLst>
            </p:cNvPr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>
              <a:extLst>
                <a:ext uri="{FF2B5EF4-FFF2-40B4-BE49-F238E27FC236}">
                  <a16:creationId xmlns:a16="http://schemas.microsoft.com/office/drawing/2014/main" id="{57E9CDDF-BA50-0D36-6D3B-6E41EC9D3D85}"/>
                </a:ext>
              </a:extLst>
            </p:cNvPr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>
              <a:extLst>
                <a:ext uri="{FF2B5EF4-FFF2-40B4-BE49-F238E27FC236}">
                  <a16:creationId xmlns:a16="http://schemas.microsoft.com/office/drawing/2014/main" id="{11F1669D-93F0-E49F-E968-73BBC8096AF8}"/>
                </a:ext>
              </a:extLst>
            </p:cNvPr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>
              <a:extLst>
                <a:ext uri="{FF2B5EF4-FFF2-40B4-BE49-F238E27FC236}">
                  <a16:creationId xmlns:a16="http://schemas.microsoft.com/office/drawing/2014/main" id="{A968997E-0B19-3030-7F5D-C4F86C4A9A56}"/>
                </a:ext>
              </a:extLst>
            </p:cNvPr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>
              <a:extLst>
                <a:ext uri="{FF2B5EF4-FFF2-40B4-BE49-F238E27FC236}">
                  <a16:creationId xmlns:a16="http://schemas.microsoft.com/office/drawing/2014/main" id="{828CE9F1-1044-7A07-0434-A51740084A9C}"/>
                </a:ext>
              </a:extLst>
            </p:cNvPr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>
              <a:extLst>
                <a:ext uri="{FF2B5EF4-FFF2-40B4-BE49-F238E27FC236}">
                  <a16:creationId xmlns:a16="http://schemas.microsoft.com/office/drawing/2014/main" id="{845CF2E7-2E36-C45A-D85A-97596EB05CD9}"/>
                </a:ext>
              </a:extLst>
            </p:cNvPr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>
              <a:extLst>
                <a:ext uri="{FF2B5EF4-FFF2-40B4-BE49-F238E27FC236}">
                  <a16:creationId xmlns:a16="http://schemas.microsoft.com/office/drawing/2014/main" id="{AEA0B3AA-2EEB-86EF-C506-15B6E301F671}"/>
                </a:ext>
              </a:extLst>
            </p:cNvPr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>
              <a:extLst>
                <a:ext uri="{FF2B5EF4-FFF2-40B4-BE49-F238E27FC236}">
                  <a16:creationId xmlns:a16="http://schemas.microsoft.com/office/drawing/2014/main" id="{4471BE6C-22E8-0165-6383-526EB97FC7C8}"/>
                </a:ext>
              </a:extLst>
            </p:cNvPr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>
              <a:extLst>
                <a:ext uri="{FF2B5EF4-FFF2-40B4-BE49-F238E27FC236}">
                  <a16:creationId xmlns:a16="http://schemas.microsoft.com/office/drawing/2014/main" id="{09423EDB-D287-91F6-BDEA-D218761D6103}"/>
                </a:ext>
              </a:extLst>
            </p:cNvPr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0" name="Google Shape;450;p40">
            <a:extLst>
              <a:ext uri="{FF2B5EF4-FFF2-40B4-BE49-F238E27FC236}">
                <a16:creationId xmlns:a16="http://schemas.microsoft.com/office/drawing/2014/main" id="{C27A7FC4-1635-1D8F-9AC8-26B6AA1CD729}"/>
              </a:ext>
            </a:extLst>
          </p:cNvPr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42098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>
          <a:extLst>
            <a:ext uri="{FF2B5EF4-FFF2-40B4-BE49-F238E27FC236}">
              <a16:creationId xmlns:a16="http://schemas.microsoft.com/office/drawing/2014/main" id="{0732D26C-1D35-42A3-D163-B7442CF3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67">
            <a:extLst>
              <a:ext uri="{FF2B5EF4-FFF2-40B4-BE49-F238E27FC236}">
                <a16:creationId xmlns:a16="http://schemas.microsoft.com/office/drawing/2014/main" id="{FACDFC79-9840-45B7-A84D-8E4C499746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Regression Results</a:t>
            </a:r>
            <a:endParaRPr dirty="0"/>
          </a:p>
        </p:txBody>
      </p:sp>
      <p:graphicFrame>
        <p:nvGraphicFramePr>
          <p:cNvPr id="1013" name="Google Shape;1013;p67">
            <a:extLst>
              <a:ext uri="{FF2B5EF4-FFF2-40B4-BE49-F238E27FC236}">
                <a16:creationId xmlns:a16="http://schemas.microsoft.com/office/drawing/2014/main" id="{130374B5-D8D9-1C33-5901-CA11B7EFE4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3913452"/>
              </p:ext>
            </p:extLst>
          </p:nvPr>
        </p:nvGraphicFramePr>
        <p:xfrm>
          <a:off x="362938" y="1377917"/>
          <a:ext cx="3648200" cy="2956500"/>
        </p:xfrm>
        <a:graphic>
          <a:graphicData uri="http://schemas.openxmlformats.org/drawingml/2006/table">
            <a:tbl>
              <a:tblPr>
                <a:noFill/>
                <a:tableStyleId>{0B0F6DC0-1C3A-443C-B878-45D198B06A33}</a:tableStyleId>
              </a:tblPr>
              <a:tblGrid>
                <a:gridCol w="364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Model: log(Adj Close) ~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Time_Index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4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Slope: 0.0003 (p &lt; 0.001) → highly significant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R² = 0.959 → time explains ~96% of long-term trend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Converted annual growth ≈ 7.8% per year, consistent with historical market research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Interpretation: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 S&amp;P 500 exhibits a strong, statistically significant long-term upward growth trend</a:t>
                      </a:r>
                      <a:endParaRPr sz="12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E4AE28-28C7-5962-CAEF-725F1DC25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631" y="1377917"/>
            <a:ext cx="4762316" cy="2956500"/>
          </a:xfrm>
          <a:prstGeom prst="rect">
            <a:avLst/>
          </a:prstGeom>
          <a:ln>
            <a:solidFill>
              <a:schemeClr val="tx2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25965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>
          <a:extLst>
            <a:ext uri="{FF2B5EF4-FFF2-40B4-BE49-F238E27FC236}">
              <a16:creationId xmlns:a16="http://schemas.microsoft.com/office/drawing/2014/main" id="{9DD42026-8A9B-EA34-3904-A783EE0C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67">
            <a:extLst>
              <a:ext uri="{FF2B5EF4-FFF2-40B4-BE49-F238E27FC236}">
                <a16:creationId xmlns:a16="http://schemas.microsoft.com/office/drawing/2014/main" id="{4A0BD7B8-91C5-9203-EF2A-853E80118D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Anova Results</a:t>
            </a:r>
            <a:endParaRPr dirty="0"/>
          </a:p>
        </p:txBody>
      </p:sp>
      <p:graphicFrame>
        <p:nvGraphicFramePr>
          <p:cNvPr id="1013" name="Google Shape;1013;p67">
            <a:extLst>
              <a:ext uri="{FF2B5EF4-FFF2-40B4-BE49-F238E27FC236}">
                <a16:creationId xmlns:a16="http://schemas.microsoft.com/office/drawing/2014/main" id="{EF795077-3D24-E4C1-A4D6-6038C4C989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6382410"/>
              </p:ext>
            </p:extLst>
          </p:nvPr>
        </p:nvGraphicFramePr>
        <p:xfrm>
          <a:off x="2747900" y="1312603"/>
          <a:ext cx="3648200" cy="3139380"/>
        </p:xfrm>
        <a:graphic>
          <a:graphicData uri="http://schemas.openxmlformats.org/drawingml/2006/table">
            <a:tbl>
              <a:tblPr>
                <a:noFill/>
                <a:tableStyleId>{0B0F6DC0-1C3A-443C-B878-45D198B06A33}</a:tableStyleId>
              </a:tblPr>
              <a:tblGrid>
                <a:gridCol w="364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ANOVA: Price Variation Across Decades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4525">
                <a:tc>
                  <a:txBody>
                    <a:bodyPr/>
                    <a:lstStyle/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Results: F = 20,374.85, p = 0 </a:t>
                      </a:r>
                    </a:p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Reject the null hypothesis; decades do not share the same mean price level.</a:t>
                      </a:r>
                    </a:p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Early decades (1920s–1950s) show much lower averages, while recent decades (2000s–2020s) have sharply higher prices and greater volatility.</a:t>
                      </a:r>
                    </a:p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Confirms that S&amp;P 500 growth is uneven across historical eras and aligns with regression findings on long-term upward trends.</a:t>
                      </a:r>
                      <a:endParaRPr sz="12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006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1EC775F6-5F12-C086-11F6-57BF5E30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CFF5A466-4DEE-27B0-93E9-ECC1186D3D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2384250"/>
            <a:ext cx="6044191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Conclusion</a:t>
            </a:r>
            <a:endParaRPr dirty="0"/>
          </a:p>
        </p:txBody>
      </p:sp>
      <p:sp>
        <p:nvSpPr>
          <p:cNvPr id="430" name="Google Shape;430;p40">
            <a:extLst>
              <a:ext uri="{FF2B5EF4-FFF2-40B4-BE49-F238E27FC236}">
                <a16:creationId xmlns:a16="http://schemas.microsoft.com/office/drawing/2014/main" id="{7A6C02D7-3B30-6FCD-E24F-EB34C94B106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432" name="Google Shape;432;p40">
            <a:extLst>
              <a:ext uri="{FF2B5EF4-FFF2-40B4-BE49-F238E27FC236}">
                <a16:creationId xmlns:a16="http://schemas.microsoft.com/office/drawing/2014/main" id="{096E7C23-E18F-3B0F-1F9D-9F84BDA314B2}"/>
              </a:ext>
            </a:extLst>
          </p:cNvPr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>
              <a:extLst>
                <a:ext uri="{FF2B5EF4-FFF2-40B4-BE49-F238E27FC236}">
                  <a16:creationId xmlns:a16="http://schemas.microsoft.com/office/drawing/2014/main" id="{8F2DC935-6AC1-1C9F-7330-6ADCD40517F7}"/>
                </a:ext>
              </a:extLst>
            </p:cNvPr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>
              <a:extLst>
                <a:ext uri="{FF2B5EF4-FFF2-40B4-BE49-F238E27FC236}">
                  <a16:creationId xmlns:a16="http://schemas.microsoft.com/office/drawing/2014/main" id="{E430D5A7-DBDD-D1AF-AAD4-8A532630BE2A}"/>
                </a:ext>
              </a:extLst>
            </p:cNvPr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>
              <a:extLst>
                <a:ext uri="{FF2B5EF4-FFF2-40B4-BE49-F238E27FC236}">
                  <a16:creationId xmlns:a16="http://schemas.microsoft.com/office/drawing/2014/main" id="{727EF7BA-BB97-65CB-0619-442624113CCE}"/>
                </a:ext>
              </a:extLst>
            </p:cNvPr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B6C245E1-6BC1-B9A6-D819-D2CBA44BCA00}"/>
                </a:ext>
              </a:extLst>
            </p:cNvPr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70EB7D1F-D18B-CED2-D181-44E13B16CD24}"/>
                </a:ext>
              </a:extLst>
            </p:cNvPr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3B7AC60D-2D59-71A9-191F-0B05E00BB849}"/>
                </a:ext>
              </a:extLst>
            </p:cNvPr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98132246-7E00-5FFD-41E6-4C13CA788B08}"/>
                </a:ext>
              </a:extLst>
            </p:cNvPr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>
              <a:extLst>
                <a:ext uri="{FF2B5EF4-FFF2-40B4-BE49-F238E27FC236}">
                  <a16:creationId xmlns:a16="http://schemas.microsoft.com/office/drawing/2014/main" id="{6E7D185F-99A2-8373-4768-7F32A34B79DE}"/>
                </a:ext>
              </a:extLst>
            </p:cNvPr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>
              <a:extLst>
                <a:ext uri="{FF2B5EF4-FFF2-40B4-BE49-F238E27FC236}">
                  <a16:creationId xmlns:a16="http://schemas.microsoft.com/office/drawing/2014/main" id="{FC1D5638-8368-A282-603E-C3D01F1B9C1C}"/>
                </a:ext>
              </a:extLst>
            </p:cNvPr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>
              <a:extLst>
                <a:ext uri="{FF2B5EF4-FFF2-40B4-BE49-F238E27FC236}">
                  <a16:creationId xmlns:a16="http://schemas.microsoft.com/office/drawing/2014/main" id="{B2C236A7-0DD0-ED4F-2253-DF6CD4F401CE}"/>
                </a:ext>
              </a:extLst>
            </p:cNvPr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>
              <a:extLst>
                <a:ext uri="{FF2B5EF4-FFF2-40B4-BE49-F238E27FC236}">
                  <a16:creationId xmlns:a16="http://schemas.microsoft.com/office/drawing/2014/main" id="{ACEE879C-F551-8D1F-7DFD-094C6C3934DC}"/>
                </a:ext>
              </a:extLst>
            </p:cNvPr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>
              <a:extLst>
                <a:ext uri="{FF2B5EF4-FFF2-40B4-BE49-F238E27FC236}">
                  <a16:creationId xmlns:a16="http://schemas.microsoft.com/office/drawing/2014/main" id="{024903BC-0D1C-7A10-7E2C-4DA762C30489}"/>
                </a:ext>
              </a:extLst>
            </p:cNvPr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>
              <a:extLst>
                <a:ext uri="{FF2B5EF4-FFF2-40B4-BE49-F238E27FC236}">
                  <a16:creationId xmlns:a16="http://schemas.microsoft.com/office/drawing/2014/main" id="{FEC5EA17-73E0-99AB-2324-2B828803DD7C}"/>
                </a:ext>
              </a:extLst>
            </p:cNvPr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>
              <a:extLst>
                <a:ext uri="{FF2B5EF4-FFF2-40B4-BE49-F238E27FC236}">
                  <a16:creationId xmlns:a16="http://schemas.microsoft.com/office/drawing/2014/main" id="{7A22BEB5-57D6-C2B9-8F31-58EBDB700B82}"/>
                </a:ext>
              </a:extLst>
            </p:cNvPr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>
              <a:extLst>
                <a:ext uri="{FF2B5EF4-FFF2-40B4-BE49-F238E27FC236}">
                  <a16:creationId xmlns:a16="http://schemas.microsoft.com/office/drawing/2014/main" id="{DC3EA40F-6AAA-AD83-2C0E-D0866826A272}"/>
                </a:ext>
              </a:extLst>
            </p:cNvPr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>
              <a:extLst>
                <a:ext uri="{FF2B5EF4-FFF2-40B4-BE49-F238E27FC236}">
                  <a16:creationId xmlns:a16="http://schemas.microsoft.com/office/drawing/2014/main" id="{EF204CBA-1820-D065-8CFA-7CBD27979BA3}"/>
                </a:ext>
              </a:extLst>
            </p:cNvPr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>
              <a:extLst>
                <a:ext uri="{FF2B5EF4-FFF2-40B4-BE49-F238E27FC236}">
                  <a16:creationId xmlns:a16="http://schemas.microsoft.com/office/drawing/2014/main" id="{287E2D2A-BDCC-A4DD-CA8B-F3C2B12F19AE}"/>
                </a:ext>
              </a:extLst>
            </p:cNvPr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0" name="Google Shape;450;p40">
            <a:extLst>
              <a:ext uri="{FF2B5EF4-FFF2-40B4-BE49-F238E27FC236}">
                <a16:creationId xmlns:a16="http://schemas.microsoft.com/office/drawing/2014/main" id="{36218523-1EEE-7D8F-EFB8-C0E9CD41DB58}"/>
              </a:ext>
            </a:extLst>
          </p:cNvPr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65322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Overall Findings</a:t>
            </a:r>
            <a:endParaRPr dirty="0"/>
          </a:p>
        </p:txBody>
      </p:sp>
      <p:sp>
        <p:nvSpPr>
          <p:cNvPr id="504" name="Google Shape;504;p44"/>
          <p:cNvSpPr txBox="1">
            <a:spLocks noGrp="1"/>
          </p:cNvSpPr>
          <p:nvPr>
            <p:ph type="subTitle" idx="1"/>
          </p:nvPr>
        </p:nvSpPr>
        <p:spPr>
          <a:xfrm>
            <a:off x="805025" y="1676249"/>
            <a:ext cx="2288100" cy="31678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The S&amp;P 500 demonstrates strong, consistent long-term growth with an average annual trend near historical market benchmarks.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Annual growth is volatile, but long-run trend is smooth and upward.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Decade-level analysis shows clear structural differences between economic eras.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/>
          </a:p>
        </p:txBody>
      </p:sp>
      <p:sp>
        <p:nvSpPr>
          <p:cNvPr id="505" name="Google Shape;505;p44"/>
          <p:cNvSpPr txBox="1">
            <a:spLocks noGrp="1"/>
          </p:cNvSpPr>
          <p:nvPr>
            <p:ph type="subTitle" idx="2"/>
          </p:nvPr>
        </p:nvSpPr>
        <p:spPr>
          <a:xfrm>
            <a:off x="3351750" y="1676250"/>
            <a:ext cx="2288100" cy="3167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The S&amp;P 500 is characterized by exponential long-run growth despite short-term volatility.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Market structure has changed significantly over decades, with rising returns and rising volatility.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Long-term investors benefit from holding over multiple decades rather than reacting to annual volatility.</a:t>
            </a:r>
            <a:endParaRPr sz="1100" dirty="0"/>
          </a:p>
        </p:txBody>
      </p:sp>
      <p:sp>
        <p:nvSpPr>
          <p:cNvPr id="506" name="Google Shape;506;p44"/>
          <p:cNvSpPr txBox="1">
            <a:spLocks noGrp="1"/>
          </p:cNvSpPr>
          <p:nvPr>
            <p:ph type="subTitle" idx="3"/>
          </p:nvPr>
        </p:nvSpPr>
        <p:spPr>
          <a:xfrm>
            <a:off x="5898500" y="1676249"/>
            <a:ext cx="2288100" cy="3167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Favor long-term, buy-and-hold strategies over short-term timing.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Use decade-level analysis to understand macro-trends rather than focusing on yearly noise.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Use log-transformed or return-based models when conducting long-term financial forecasting.</a:t>
            </a:r>
            <a:endParaRPr sz="1100" dirty="0"/>
          </a:p>
        </p:txBody>
      </p:sp>
      <p:sp>
        <p:nvSpPr>
          <p:cNvPr id="507" name="Google Shape;507;p44"/>
          <p:cNvSpPr txBox="1">
            <a:spLocks noGrp="1"/>
          </p:cNvSpPr>
          <p:nvPr>
            <p:ph type="subTitle" idx="4"/>
          </p:nvPr>
        </p:nvSpPr>
        <p:spPr>
          <a:xfrm>
            <a:off x="805025" y="1157774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Insights</a:t>
            </a:r>
            <a:endParaRPr dirty="0"/>
          </a:p>
        </p:txBody>
      </p:sp>
      <p:sp>
        <p:nvSpPr>
          <p:cNvPr id="508" name="Google Shape;508;p44"/>
          <p:cNvSpPr txBox="1">
            <a:spLocks noGrp="1"/>
          </p:cNvSpPr>
          <p:nvPr>
            <p:ph type="subTitle" idx="5"/>
          </p:nvPr>
        </p:nvSpPr>
        <p:spPr>
          <a:xfrm>
            <a:off x="3351754" y="1157774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509" name="Google Shape;509;p44"/>
          <p:cNvSpPr txBox="1">
            <a:spLocks noGrp="1"/>
          </p:cNvSpPr>
          <p:nvPr>
            <p:ph type="subTitle" idx="6"/>
          </p:nvPr>
        </p:nvSpPr>
        <p:spPr>
          <a:xfrm>
            <a:off x="5898500" y="1157774"/>
            <a:ext cx="2853614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Recommendations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08117E02-0A46-0B1F-A01A-B0F559220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36A5C376-BDBC-A589-6D14-F39D6E368B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2384250"/>
            <a:ext cx="6044191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Thanks!</a:t>
            </a:r>
            <a:endParaRPr dirty="0"/>
          </a:p>
        </p:txBody>
      </p:sp>
      <p:grpSp>
        <p:nvGrpSpPr>
          <p:cNvPr id="432" name="Google Shape;432;p40">
            <a:extLst>
              <a:ext uri="{FF2B5EF4-FFF2-40B4-BE49-F238E27FC236}">
                <a16:creationId xmlns:a16="http://schemas.microsoft.com/office/drawing/2014/main" id="{EEFB2BF6-8780-F0FB-2987-C039C8E0F563}"/>
              </a:ext>
            </a:extLst>
          </p:cNvPr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>
              <a:extLst>
                <a:ext uri="{FF2B5EF4-FFF2-40B4-BE49-F238E27FC236}">
                  <a16:creationId xmlns:a16="http://schemas.microsoft.com/office/drawing/2014/main" id="{13B59BE8-FE18-A9D5-6571-99F89F9CE06B}"/>
                </a:ext>
              </a:extLst>
            </p:cNvPr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>
              <a:extLst>
                <a:ext uri="{FF2B5EF4-FFF2-40B4-BE49-F238E27FC236}">
                  <a16:creationId xmlns:a16="http://schemas.microsoft.com/office/drawing/2014/main" id="{5C476FE9-1EF7-B7E8-1305-7FBBCE3BEFCB}"/>
                </a:ext>
              </a:extLst>
            </p:cNvPr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>
              <a:extLst>
                <a:ext uri="{FF2B5EF4-FFF2-40B4-BE49-F238E27FC236}">
                  <a16:creationId xmlns:a16="http://schemas.microsoft.com/office/drawing/2014/main" id="{E87445A3-BBCD-833B-6429-0A43DB57C1C8}"/>
                </a:ext>
              </a:extLst>
            </p:cNvPr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2EE70089-2234-7531-0AB2-57DEF9ADB2F8}"/>
                </a:ext>
              </a:extLst>
            </p:cNvPr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C6EACAFB-0E5D-6F1F-AA63-A1B704C301E2}"/>
                </a:ext>
              </a:extLst>
            </p:cNvPr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54154884-D06C-0487-8085-6E5B7DE55A99}"/>
                </a:ext>
              </a:extLst>
            </p:cNvPr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7E6DCC13-1C27-26EF-BABC-D46102E338B7}"/>
                </a:ext>
              </a:extLst>
            </p:cNvPr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>
              <a:extLst>
                <a:ext uri="{FF2B5EF4-FFF2-40B4-BE49-F238E27FC236}">
                  <a16:creationId xmlns:a16="http://schemas.microsoft.com/office/drawing/2014/main" id="{0C0AF7DD-18FC-C805-79BA-35609E7B4501}"/>
                </a:ext>
              </a:extLst>
            </p:cNvPr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>
              <a:extLst>
                <a:ext uri="{FF2B5EF4-FFF2-40B4-BE49-F238E27FC236}">
                  <a16:creationId xmlns:a16="http://schemas.microsoft.com/office/drawing/2014/main" id="{77444A79-534A-480A-E476-4DC0C6F554F4}"/>
                </a:ext>
              </a:extLst>
            </p:cNvPr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>
              <a:extLst>
                <a:ext uri="{FF2B5EF4-FFF2-40B4-BE49-F238E27FC236}">
                  <a16:creationId xmlns:a16="http://schemas.microsoft.com/office/drawing/2014/main" id="{2CD33C17-8F86-D573-7075-88680562ACBF}"/>
                </a:ext>
              </a:extLst>
            </p:cNvPr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>
              <a:extLst>
                <a:ext uri="{FF2B5EF4-FFF2-40B4-BE49-F238E27FC236}">
                  <a16:creationId xmlns:a16="http://schemas.microsoft.com/office/drawing/2014/main" id="{38F122C0-2BB8-1D7A-0D9D-99D72195A8F5}"/>
                </a:ext>
              </a:extLst>
            </p:cNvPr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>
              <a:extLst>
                <a:ext uri="{FF2B5EF4-FFF2-40B4-BE49-F238E27FC236}">
                  <a16:creationId xmlns:a16="http://schemas.microsoft.com/office/drawing/2014/main" id="{C44E4606-0964-F5CA-84F5-7038FE0F6D10}"/>
                </a:ext>
              </a:extLst>
            </p:cNvPr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>
              <a:extLst>
                <a:ext uri="{FF2B5EF4-FFF2-40B4-BE49-F238E27FC236}">
                  <a16:creationId xmlns:a16="http://schemas.microsoft.com/office/drawing/2014/main" id="{2B053A12-DA98-E6B1-EBCE-3BC9BA4D5F8B}"/>
                </a:ext>
              </a:extLst>
            </p:cNvPr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>
              <a:extLst>
                <a:ext uri="{FF2B5EF4-FFF2-40B4-BE49-F238E27FC236}">
                  <a16:creationId xmlns:a16="http://schemas.microsoft.com/office/drawing/2014/main" id="{9C75F7D6-58B6-7D31-8130-15001CAD3B1A}"/>
                </a:ext>
              </a:extLst>
            </p:cNvPr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>
              <a:extLst>
                <a:ext uri="{FF2B5EF4-FFF2-40B4-BE49-F238E27FC236}">
                  <a16:creationId xmlns:a16="http://schemas.microsoft.com/office/drawing/2014/main" id="{7FCFB601-C7A8-1D8C-FC67-74A714B441F5}"/>
                </a:ext>
              </a:extLst>
            </p:cNvPr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>
              <a:extLst>
                <a:ext uri="{FF2B5EF4-FFF2-40B4-BE49-F238E27FC236}">
                  <a16:creationId xmlns:a16="http://schemas.microsoft.com/office/drawing/2014/main" id="{16A3E143-290C-8A79-9F18-2BEE2212CA98}"/>
                </a:ext>
              </a:extLst>
            </p:cNvPr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>
              <a:extLst>
                <a:ext uri="{FF2B5EF4-FFF2-40B4-BE49-F238E27FC236}">
                  <a16:creationId xmlns:a16="http://schemas.microsoft.com/office/drawing/2014/main" id="{A20DCC0F-DB24-DB30-DCAE-6DF38E60485B}"/>
                </a:ext>
              </a:extLst>
            </p:cNvPr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0" name="Google Shape;450;p40">
            <a:extLst>
              <a:ext uri="{FF2B5EF4-FFF2-40B4-BE49-F238E27FC236}">
                <a16:creationId xmlns:a16="http://schemas.microsoft.com/office/drawing/2014/main" id="{DA29C9AE-E133-3BF8-62C4-94096A4C5856}"/>
              </a:ext>
            </a:extLst>
          </p:cNvPr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89570936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871</Words>
  <Application>Microsoft Macintosh PowerPoint</Application>
  <PresentationFormat>On-screen Show (16:9)</PresentationFormat>
  <Paragraphs>245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DM Sans</vt:lpstr>
      <vt:lpstr>Anaheim</vt:lpstr>
      <vt:lpstr>Arial</vt:lpstr>
      <vt:lpstr>Helvetica</vt:lpstr>
      <vt:lpstr>Outfit</vt:lpstr>
      <vt:lpstr>Menlo</vt:lpstr>
      <vt:lpstr>Nunito Light</vt:lpstr>
      <vt:lpstr>Data Collection and Analysis - Master of Science in Community Health and Prevention Research by Slidesgo</vt:lpstr>
      <vt:lpstr>Long-Term Growth Trends in the  S&amp;P 500 Index</vt:lpstr>
      <vt:lpstr>Table of contents</vt:lpstr>
      <vt:lpstr>Data Overview</vt:lpstr>
      <vt:lpstr>Dataset Description</vt:lpstr>
      <vt:lpstr>Descriptive Statistics</vt:lpstr>
      <vt:lpstr>Final Dataset For Analysis</vt:lpstr>
      <vt:lpstr>Hypotheses</vt:lpstr>
      <vt:lpstr>Research Question</vt:lpstr>
      <vt:lpstr>Time Trend vs. Decade Variation</vt:lpstr>
      <vt:lpstr>Visualization</vt:lpstr>
      <vt:lpstr>Full Period Trend</vt:lpstr>
      <vt:lpstr>Annual Growth Trend</vt:lpstr>
      <vt:lpstr>Decade Level Summary</vt:lpstr>
      <vt:lpstr>Results</vt:lpstr>
      <vt:lpstr>Regression Results</vt:lpstr>
      <vt:lpstr>Anova Results</vt:lpstr>
      <vt:lpstr>Conclusion</vt:lpstr>
      <vt:lpstr>Overall Findings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Abdullah,Tahity</cp:lastModifiedBy>
  <cp:revision>2</cp:revision>
  <dcterms:modified xsi:type="dcterms:W3CDTF">2025-12-06T19:34:47Z</dcterms:modified>
</cp:coreProperties>
</file>